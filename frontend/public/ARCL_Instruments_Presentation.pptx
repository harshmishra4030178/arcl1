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Respected examiners, I present ARCL Instruments: a full-stack enterprise platform engineered with Next.js 16, Node.js/Express, and MongoDB. It features a complete Storefront for civil engineers and a secure Admin Control Portal.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system follows a decoupled 3-tier architecture with separate Storefront and Admin portals communicating via authenticated REST APIs.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Admin login uses bcrypt password hashing and issues an HTTP-Only JWT cookie. The Next.js middleware enforces strict role-based access control before granting entry.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Dashboard serves as the central mission control, featuring live presence monitoring to prevent multiple admins from overwriting the same product simultaneously.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Equipment Types represent the root nodes of our 3-tier product taxonomy. Admins create, edit, and sequence top-level classifications with cascade protection.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Categories feature native HTML5 Drag-and-Drop for reordering. Admins also see exact timestamps and can configure default specification templates for child products.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Product Inventory table allows admins to filter by testing standards, toggle stock availability in real time, and trigger physical machine QR generation.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 creation features dynamic key-value specifications and multi-file Cloudinary streaming. On submit, Next.js ISR immediately purges and refreshes the edge cache.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machine QR generator bridges physical lab machinery with the cloud. Field engineers and auditors can scan the machine on-site for real-time manuals and calibration validity.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Inquiries CRM captures all customer RFQs, enables 1-click WhatsApp followups with attached specs, and tracks deal conversion states.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Articles CMS empowers admins to publish technical testing guides conforming to IS codes, driving organic traffic and linking readers directly to quotation forms.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 management implements strict Role-Based Access Control (SuperAdmin, Admin, Editor) with instant token revocation capabilities upon access removal.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Error Logs Console gives administrators instant diagnostic visibility into API latencies, cron keep-alive heartbeats, and error stack traces.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Storefront provides a high-speed SSR experience for civil engineers, allowing sub-3-click navigation to IS compliant testing machines.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 detail pages feature client-side dynamic PDF generation via jsPDF and automated WhatsApp RFQ dispatch for instant B2B conversions.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Programmatic SEO geo-landing hubs target Mumbai, Navi Mumbai, and Thane with rich JSON-LD schemas to dominate local contractor search queries.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platform enforces RBAC, JWT authentication with secure HTTP-only cookies, Express DDoS rate-limiting, and an automated keep-alive cron monitor on Render to guarantee 24/7 zero-latency availability.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conclusion, ARCL Instruments is a complete, scalable, production-deployed industrial solution. I will now demonstrate the live system running on arclinstruments.com. Thank you, and I welcome your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731520"/>
            <a:ext cx="5788152" cy="411480"/>
          </a:xfrm>
          <a:prstGeom prst="roundRect">
            <a:avLst>
              <a:gd name="adj" fmla="val 44444"/>
            </a:avLst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0" y="731520"/>
            <a:ext cx="5788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3C5FD"/>
                </a:solidFill>
              </a:rPr>
              <a:t>MAJOR PROJECT PRESENTATION &amp; LIVE DEFENSE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ARCL INSTRUMENTS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2103120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Civil Engineering E-Commerce &amp; Laboratory Automation System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0" y="2697480"/>
            <a:ext cx="8531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Deep-Dive: Storefront User Experience vs. Full-Featured Admin Control Center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3474720"/>
            <a:ext cx="2560320" cy="2286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657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FRONTEND STACK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40233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Next.js 16 App Router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4663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React 19, Tailwind, Zustand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29000" y="3474720"/>
            <a:ext cx="2560320" cy="2286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3657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</a:rPr>
              <a:t>BACKEND STACK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11880" y="40233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Node.js + Express REST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11880" y="4663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JWT Dual-Layer, Helmet, CORS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3474720"/>
            <a:ext cx="2560320" cy="2286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3657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DATABASE &amp; STORAGE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09360" y="40233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MongoDB Atlas + CDN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4663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Compound Text Index, Cloudinary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823960" y="3474720"/>
            <a:ext cx="2560320" cy="2286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06840" y="3657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PRODUCTION DEPLOYED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006840" y="40233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arclinstruments.com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006840" y="4663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24/7 Automated Cron Active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&amp; Engineering Workflow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92640" y="502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 of 18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3474720" cy="4114800"/>
          </a:xfrm>
          <a:prstGeom prst="roundRect">
            <a:avLst>
              <a:gd name="adj" fmla="val 3947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002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CLIENT STOREFRONT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9659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Next.js 16 SSR &amp; Edge CDN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4688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Semantic 3-Level Routing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31546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IS Testing Standards Matrix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38404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1-Click WhatsApp RFQ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45262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Client jsPDF Spec Sheet Export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43400" y="1371600"/>
            <a:ext cx="3474720" cy="4114800"/>
          </a:xfrm>
          <a:prstGeom prst="roundRect">
            <a:avLst>
              <a:gd name="adj" fmla="val 3947"/>
            </a:avLst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16002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ADMIN CONTROL CONSOLE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26280" y="19659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Secure Management Portal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26280" y="24688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Real-Time Presence Heartbeat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26280" y="31546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DnD Category Reordering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26280" y="38404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Dynamic Schema Builder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26280" y="45262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Base64 Vector QR Engine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955280" y="1371600"/>
            <a:ext cx="3474720" cy="4114800"/>
          </a:xfrm>
          <a:prstGeom prst="roundRect">
            <a:avLst>
              <a:gd name="adj" fmla="val 3947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0" y="16002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DATA &amp; MEDIA CLOUD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38160" y="19659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MongoDB Atlas &amp; Cloudinary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138160" y="24688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Mongoose Strict ODM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138160" y="31546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Compound Text Search Indexes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138160" y="38404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Multi-Region WebP Image CDN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138160" y="45262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24/7 Keep-Alive Cron Monitor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PORTAL • /ADMIN/LOGIN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Section 1: Secure Login &amp; Role-Based Access Control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92640" y="502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 of 18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5303520" cy="4846320"/>
          </a:xfrm>
          <a:prstGeom prst="roundRect">
            <a:avLst>
              <a:gd name="adj" fmla="val 2830"/>
            </a:avLst>
          </a:prstGeom>
          <a:solidFill>
            <a:srgbClr val="0F172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630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🛡️ ADMIN LOGIN PORTAL (Route: /admin/login)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280160" y="1920240"/>
            <a:ext cx="4206240" cy="3931920"/>
          </a:xfrm>
          <a:prstGeom prst="roundRect">
            <a:avLst>
              <a:gd name="adj" fmla="val 232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21031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ARCL Instruments Admin Portal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63040" y="24231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Sign in with SuperAdmin / Admin Credentials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63040" y="278892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Email Address: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463040" y="3017520"/>
            <a:ext cx="384048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00200" y="31089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harshmishra4030@gmail.com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463040" y="356616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Password: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463040" y="3794760"/>
            <a:ext cx="384048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00200" y="3886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••••••••••••••••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463040" y="4389120"/>
            <a:ext cx="384048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1463040" y="4480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🔐 Sign In to Admin Console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463040" y="51206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0B981"/>
                </a:solidFill>
              </a:rPr>
              <a:t>✔ Protected by JWT HTTP-Only Cookies &amp; Express Rate Limiter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309360" y="1280160"/>
            <a:ext cx="5303520" cy="4846320"/>
          </a:xfrm>
          <a:prstGeom prst="roundRect">
            <a:avLst>
              <a:gd name="adj" fmla="val 283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15087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STEP-BY-STEP WORKFLOW &amp; SECURITY ARCHITECTURE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0" y="19659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1: Credential Verification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66560" y="2221992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Admin inputs email &amp; password. Backend compares hash using bcrypt with salt rounds.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583680" y="29718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2: Dual-Token Generation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66560" y="3227832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Express signs a JWT token with user ID and role (SuperAdmin/Admin), dispatched in an HTTP-Only secure cookie.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583680" y="39776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3: Route Guard Middleware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66560" y="4233672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Next.js Middleware intercepts all /admin routes, verifying session validity before rendering any management page.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583680" y="49834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4: Brute-Force Rate Limiting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66560" y="5239512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Failed login attempts are limited to 5 tries per 15 minutes to block dictionary and DDoS attacks.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PORTAL • /ADMIN/DASHBOARD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Section 2: Main Dashboard &amp; Real-Time Presence Monitor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92640" y="502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 of 18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5669280" cy="4846320"/>
          </a:xfrm>
          <a:prstGeom prst="roundRect">
            <a:avLst>
              <a:gd name="adj" fmla="val 2830"/>
            </a:avLst>
          </a:prstGeom>
          <a:solidFill>
            <a:srgbClr val="0F172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630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</a:rPr>
              <a:t>📊 REAL-TIME DASHBOARD TELEMETRY (Auto-Refresh 10s)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914400" y="1828800"/>
            <a:ext cx="123444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92024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</a:rPr>
              <a:t>6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33172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Equip Types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240280" y="1828800"/>
            <a:ext cx="123444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2240280" y="192024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</a:rPr>
              <a:t>18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40280" y="233172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Categories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566160" y="1828800"/>
            <a:ext cx="123444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192024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124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66160" y="233172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Products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892040" y="1828800"/>
            <a:ext cx="123444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192024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48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33172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Inquiries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14400" y="283464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LIVE ADMIN PRESENCE HEARTBEAT (30-Sec Pulse):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14400" y="3108960"/>
            <a:ext cx="530352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32004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🟢 harshmishra4030@gmail.com  (SuperAdmin)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51560" y="3520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Device: Desktop (Windows)  |  Status: ONLINE  |  Heartbeat: Just now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914400" y="420624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RECENT CUSTOMER QUOTATION INQUIRIES FEED: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14400" y="4480560"/>
            <a:ext cx="5303520" cy="1463040"/>
          </a:xfrm>
          <a:prstGeom prst="rect">
            <a:avLst/>
          </a:prstGeom>
          <a:solidFill>
            <a:srgbClr val="182234"/>
          </a:solidFill>
          <a:ln/>
        </p:spPr>
      </p:sp>
      <p:sp>
        <p:nvSpPr>
          <p:cNvPr id="26" name="Text 24"/>
          <p:cNvSpPr/>
          <p:nvPr/>
        </p:nvSpPr>
        <p:spPr>
          <a:xfrm>
            <a:off x="1051560" y="457200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1. L&amp;T Civil Lab  |  Item: Digital CTM 2000 kN  |  Status: [ Quotation Sent 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2. Shapoorji Pallonji  |  Item: Direct Shear App  |  Status: [ New Inquiry 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3. Afcons Infra  |  Item: Ductility Testing App  |  Status: [ Converted ]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675120" y="1280160"/>
            <a:ext cx="4846320" cy="4846320"/>
          </a:xfrm>
          <a:prstGeom prst="roundRect">
            <a:avLst>
              <a:gd name="adj" fmla="val 283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0" y="15087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HOW ADMIN OPERATES THE DASHBOARD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49440" y="19659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Real-Time System Overview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32320" y="222199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Admin immediately inspects total catalog size, pending customer inquiries, and subscriber count without manual page refreshing.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949440" y="29718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Live Session Monitoring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132320" y="322783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Dashboard pings /api/v1/auth/presence/heartbeat every 30s. If another admin logs in, both see each other's live presence, avoiding edit collisions.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949440" y="39776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Visitor Analytics Inspection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132320" y="423367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Inspects daily website traffic, desktop vs mobile visitors, and highest visited machinery landing hubs.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949440" y="49834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1-Click Direct Navigation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132320" y="523951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Clicking any metric card navigates straight to Equipment Types, Categories, Products, or Inquiries management.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PORTAL • /ADMIN/EQUIPMENT-TYPES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Section 3: Equipment Types Hierarchy Management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92640" y="502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 of 18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5669280" cy="4846320"/>
          </a:xfrm>
          <a:prstGeom prst="roundRect">
            <a:avLst>
              <a:gd name="adj" fmla="val 2830"/>
            </a:avLst>
          </a:prstGeom>
          <a:solidFill>
            <a:srgbClr val="0F172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63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</a:rPr>
              <a:t>⚙️ EQUIPMENT TYPES MANAGEMENT TABLE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141732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0" y="1463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+ Add Equipment Type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914400" y="1920240"/>
            <a:ext cx="530352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0116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Civil Engineering Lab Equipment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51560" y="2331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Slug: /civil-engineering-lab-equipment  |  Priority: 0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0" y="2148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[ Edit ✏️ ]   [ Delete 🗑️ ]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14400" y="2788920"/>
            <a:ext cx="530352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2880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Highway &amp; Road Testing Equipment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51560" y="32004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Slug: /highway-and-road-testing-equipment  |  Priority: 1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0" y="30175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[ Edit ✏️ ]   [ Delete 🗑️ ]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14400" y="3657600"/>
            <a:ext cx="530352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3749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NABL Calibration Master Instruments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51560" y="40690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Slug: /nabl-calibration-master-instruments  |  Priority: 2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0" y="3886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[ Edit ✏️ ]   [ Delete 🗑️ ]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14400" y="4526280"/>
            <a:ext cx="530352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4617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Aggregate &amp; Sand Testing Apparatus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51560" y="4937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Slug: /aggregate-and-sand-testing-apparatus  |  Priority: 3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114800" y="4754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[ Edit ✏️ ]   [ Delete 🗑️ ]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675120" y="1280160"/>
            <a:ext cx="4846320" cy="4846320"/>
          </a:xfrm>
          <a:prstGeom prst="roundRect">
            <a:avLst>
              <a:gd name="adj" fmla="val 283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0" y="15087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HOW ADMIN CREATES &amp; MANAGES EQUIPMENT TYPES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49440" y="19659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Top-Level Hierarchy Definition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132320" y="222199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Admin creates the umbrella classifications (e.g. Civil Engineering, Highway Testing) which appear in the main website navigation bar.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949440" y="29718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Auto-Slug &amp; SEO Generation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132320" y="322783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Typing the equipment name auto-generates a clean URL slug (e.g. /civil-engineering-lab-equipment) conforming to Google guidelines.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949440" y="39776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Cascade Integrity Protection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132320" y="423367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Backend prevents accidental deletion if child categories or products are currently mapped to this equipment type.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949440" y="49834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Display Order Indexing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132320" y="523951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Admin adjusts integer order values to decide which equipment category appears first on the live customer storefront.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PORTAL • /ADMIN/CATEGORIES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Section 4: Category Management &amp; Visual DnD Reorder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92640" y="502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 of 18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5669280" cy="4846320"/>
          </a:xfrm>
          <a:prstGeom prst="roundRect">
            <a:avLst>
              <a:gd name="adj" fmla="val 2830"/>
            </a:avLst>
          </a:prstGeom>
          <a:solidFill>
            <a:srgbClr val="0F172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63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</a:rPr>
              <a:t>📁 CATEGORY PRIORITY REORDER (HTML5 Drag &amp; Drop)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0" y="141732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0" y="1463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+ Add New Category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914400" y="1920240"/>
            <a:ext cx="5303520" cy="1005840"/>
          </a:xfrm>
          <a:prstGeom prst="rect">
            <a:avLst/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011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⠿  1. Concrete &amp; Cement Testing Equipment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51560" y="2331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</a:rPr>
              <a:t>Total: 32 Products  |  [ Edit ✏️ ]  [ Delete 🗑️ ]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51560" y="2606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Created: 09/09/2026, 05:48 PM  |  Updated: 13/09/2026, 11:22 AM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14400" y="3063240"/>
            <a:ext cx="53035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154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⠿  2. Soil Mechanics &amp; Foundation Testing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51560" y="3474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</a:rPr>
              <a:t>Total: 28 Products  |  [ Edit ✏️ ]  [ Delete 🗑️ ]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51560" y="3749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Created: 09/09/2026, 06:12 PM  |  Updated: 12/09/2026, 04:15 PM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914400" y="4206240"/>
            <a:ext cx="53035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4297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⠿  3. Bitumen &amp; Asphalt Testing Instruments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51560" y="4617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</a:rPr>
              <a:t>Total: 24 Products  |  [ Edit ✏️ ]  [ Delete 🗑️ ]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51560" y="4892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Created: 10/09/2026, 10:30 AM  |  Updated: 13/09/2026, 09:40 AM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914400" y="5394960"/>
            <a:ext cx="5303520" cy="594360"/>
          </a:xfrm>
          <a:prstGeom prst="rect">
            <a:avLst/>
          </a:prstGeom>
          <a:solidFill>
            <a:srgbClr val="062C1E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55321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✔ Rearranging priority updates the live customer catalog instantly!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675120" y="1280160"/>
            <a:ext cx="4846320" cy="4846320"/>
          </a:xfrm>
          <a:prstGeom prst="roundRect">
            <a:avLst>
              <a:gd name="adj" fmla="val 283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15087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HOW ADMIN CONTROLS CATEGORIES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49440" y="19659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Visual Drag-and-Drop Sorting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32320" y="222199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Admin grabs the handle ⠿ and drags categories up or down. Zustand updates the UI immediately and fires PUT /api/v1/admin/categories/reorder.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949440" y="29718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Dynamic Default Specifications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132320" y="322783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When creating a category, Admin defines base specification parameters (e.g. Platen Size, Load Accuracy) that child products inherit automatically.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949440" y="39776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Cloudinary Category Image Upload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132320" y="423367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Uploads high-resolution cover photos for each category, automatically scaled and converted to WebP on Cloudinary CDN.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949440" y="49834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Creation &amp; Update Timestamp Audit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132320" y="523951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Displays exact Date &amp; Time (IST) of creation and updates for complete accountability among admin staff.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PORTAL • /ADMIN/PRODUCTS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Section 5: Products Catalog Table &amp; Stock Toggles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92640" y="502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 of 18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5669280" cy="4846320"/>
          </a:xfrm>
          <a:prstGeom prst="roundRect">
            <a:avLst>
              <a:gd name="adj" fmla="val 2830"/>
            </a:avLst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63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📦 PRODUCT INVENTORY TABLE &amp; CONTROLS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141732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0" y="1463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+ Add New Product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914400" y="1920240"/>
            <a:ext cx="53035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011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Digital Compression Testing Machine 2000 kN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51560" y="2331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BDF8"/>
                </a:solidFill>
              </a:rPr>
              <a:t>SKU: ARCL-CTM-2000  |  Standard: IS:516  |  Status: IN STOCK 🟢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51560" y="2606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[ Edit ✏️ ]  [ Delete 🗑️ ]  [ Generate QR 📱 ]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14400" y="3063240"/>
            <a:ext cx="53035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154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Motorized Direct Shear Testing Apparatus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51560" y="3474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BDF8"/>
                </a:solidFill>
              </a:rPr>
              <a:t>SKU: ARCL-DSA-50  |  Standard: IS:2720-13  |  Status: IN STOCK 🟢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51560" y="3749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[ Edit ✏️ ]  [ Delete 🗑️ ]  [ Generate QR 📱 ]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14400" y="4206240"/>
            <a:ext cx="53035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4297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Digital Ductility Testing Machine (3 Mould)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51560" y="4617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BDF8"/>
                </a:solidFill>
              </a:rPr>
              <a:t>SKU: ARCL-DTM-03  |  Standard: IS:1208  |  Status: LOW STOCK 🟡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51560" y="4892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[ Edit ✏️ ]  [ Delete 🗑️ ]  [ Generate QR 📱 ]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675120" y="1280160"/>
            <a:ext cx="4846320" cy="4846320"/>
          </a:xfrm>
          <a:prstGeom prst="roundRect">
            <a:avLst>
              <a:gd name="adj" fmla="val 283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15087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HOW ADMIN MANAGES PRODUCT INVENTORY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49440" y="19659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Instant Search &amp; Filter by Standard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32320" y="222199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Admin searches across 124+ models by name, model number, category, or Indian Standard code (e.g. IS 516).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949440" y="29718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1-Click In-Stock / Out-of-Stock Toggle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32320" y="322783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Admin switches machine availability instantly without editing the entire product form.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949440" y="39776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Physical QR Code Trigger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132320" y="423367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Clicking [Generate QR] opens the vector Base64 machine plate generator for immediate printing.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949440" y="49834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Granular Timestamp Audits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132320" y="523951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Displays exact creation and update timestamps to track when specifications or pricing were modified.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PORTAL • /ADMIN/PRODUCTS/CREATE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Section 6: Product Publishing &amp; Dynamic Specs Builder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92640" y="502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8 of 18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5669280" cy="4846320"/>
          </a:xfrm>
          <a:prstGeom prst="roundRect">
            <a:avLst>
              <a:gd name="adj" fmla="val 2830"/>
            </a:avLst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630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📝 PUBLISH PRODUCT &amp; DYNAMIC SPECS FORM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178308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Product Title: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914400" y="1965960"/>
            <a:ext cx="256032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0574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Digital CTM 2000 kN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0" y="178308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Testing Standard (IS / ASTM):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0" y="1965960"/>
            <a:ext cx="256032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3749040" y="20574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IS:516, BS:1881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0" y="246888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55F7"/>
                </a:solidFill>
              </a:rPr>
              <a:t>DYNAMIC SPECIFICATION KEY-VALUE BUILDER: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14400" y="2743200"/>
            <a:ext cx="237744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28529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Capacity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474720" y="2743200"/>
            <a:ext cx="27432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3566160" y="28529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</a:rPr>
              <a:t>2000 kN (200 Tonne)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14400" y="3337560"/>
            <a:ext cx="237744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344728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Loading Rate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74720" y="3337560"/>
            <a:ext cx="27432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3566160" y="34472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</a:rPr>
              <a:t>Automatic Pace Rate (0.5 to 9.9 kN/s)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914400" y="3931920"/>
            <a:ext cx="237744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404164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Platen Size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74720" y="3931920"/>
            <a:ext cx="27432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3566160" y="40416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</a:rPr>
              <a:t>220 mm diameter hardened steel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914400" y="4663440"/>
            <a:ext cx="5303520" cy="365760"/>
          </a:xfrm>
          <a:prstGeom prst="roundRect">
            <a:avLst>
              <a:gd name="adj" fmla="val 12500"/>
            </a:avLst>
          </a:prstGeom>
          <a:solidFill>
            <a:srgbClr val="1E1B4B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475488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7D2FE"/>
                </a:solidFill>
              </a:rPr>
              <a:t>+ Add Custom Technical Specification Field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14400" y="5166360"/>
            <a:ext cx="5303520" cy="457200"/>
          </a:xfrm>
          <a:prstGeom prst="roundRect">
            <a:avLst>
              <a:gd name="adj" fmla="val 16000"/>
            </a:avLst>
          </a:prstGeom>
          <a:solidFill>
            <a:srgbClr val="059669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52578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💾 Save &amp; Publish to Live Catalog (Multi-Image Cloudinary Stream)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675120" y="1280160"/>
            <a:ext cx="4846320" cy="4846320"/>
          </a:xfrm>
          <a:prstGeom prst="roundRect">
            <a:avLst>
              <a:gd name="adj" fmla="val 283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49440" y="15087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STEP-BY-STEP PUBLISHING WORKFLOW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49440" y="19659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1: Hierarchy Selection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132320" y="222199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Admin picks the Equipment Type and Category. The form automatically pre-loads default specification templates.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949440" y="29718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2: Multi-Image Cloudinary Upload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132320" y="322783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Uploads multiple angles of the machine. The backend streams files to Cloudinary for multi-region CDN optimization.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949440" y="39776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3: Arbitrary Dynamic Specifications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132320" y="423367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Admin adds unlimited custom technical parameters (e.g. Displacement, Hydraulic Stroke) without altering MongoDB schema.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949440" y="49834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4: Real-Time Cache Invalidation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132320" y="523951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Submitting the form triggers Next.js On-Demand ISR revalidation, making the machine visible globally in under 1 second.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INTEGRATION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Section 7: Machine Physical QR Code Generator Modal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92640" y="502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9 of 18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5669280" cy="4846320"/>
          </a:xfrm>
          <a:prstGeom prst="roundRect">
            <a:avLst>
              <a:gd name="adj" fmla="val 2830"/>
            </a:avLst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630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📱 MACHINE METAL NAMEPLATE QR GENERATOR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920240" y="1828800"/>
            <a:ext cx="32918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196596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⬛⬛⬛⬛⬛⬛⬛⬛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⬛  [ QR CODE ]  ⬛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⬛   ARCL LABS   ⬛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⬛⬛⬛⬛⬛⬛⬛⬛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11680" y="37490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ARCL INSTRUMENTS PVT LTD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</a:rPr>
              <a:t>DIGITAL SPECIFICATIONS &amp; CALIBRATION CERTIFICATE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914400" y="4754880"/>
            <a:ext cx="530352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48463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Target: https://arclinstruments.com/products/digital-ctm-2000kn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914400" y="5303520"/>
            <a:ext cx="530352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3949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💾 Download Base64 PNG  |  🖨️ Print for Factory Riveting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675120" y="1280160"/>
            <a:ext cx="4846320" cy="4846320"/>
          </a:xfrm>
          <a:prstGeom prst="roundRect">
            <a:avLst>
              <a:gd name="adj" fmla="val 283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15087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HOW FACTORY TECHNICIANS USE MACHINE QR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49440" y="19659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1: Admin Generates QR in 1 Click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32320" y="222199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In the product list, Admin clicks [Generate QR]. Node.js canvas constructs a vector Base64 image in memory.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949440" y="29718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2: Factory Metal Plate Riveting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32320" y="322783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The high-resolution QR is laser-engraved onto a stainless steel plate and riveted onto the physical machine chassis.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949440" y="39776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3: On-Site Technician Smartphone Scan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32320" y="423367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Civil engineers at construction sites scan the physical machine to instantly pull up live manuals, wiring schematics, and test limits.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949440" y="49834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4: Instant NABL Audit Verification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32320" y="523951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Government PWD auditors verify calibration validity on-the-spot without searching paper file archives.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PORTAL • /ADMIN/INQUIRY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Section 8: Quotation RFQs &amp; Inquiries CRM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92640" y="502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10 of 18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5669280" cy="4846320"/>
          </a:xfrm>
          <a:prstGeom prst="roundRect">
            <a:avLst>
              <a:gd name="adj" fmla="val 2830"/>
            </a:avLst>
          </a:prstGeom>
          <a:solidFill>
            <a:srgbClr val="0F172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630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</a:rPr>
              <a:t>📋 CUSTOMER RFQ INQUIRIES CRM CONSOLE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914400" y="1874520"/>
            <a:ext cx="530352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965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👤 L&amp;T Infrastructure (Mumbai)  (+91 98200...)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51560" y="2240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BDF8"/>
                </a:solidFill>
              </a:rPr>
              <a:t>Machine: Digital CTM (2000 kN) - Qty: 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51560" y="2514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STATUS: QUOTATION SENT  |  Today, 10:14 AM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657600" y="2514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</a:rPr>
              <a:t>[ WhatsApp Followup 💬 ]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914400" y="3017520"/>
            <a:ext cx="530352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108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👤 Shapoorji Pallonji (Thane)  (+91 98190...)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51560" y="3383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BDF8"/>
                </a:solidFill>
              </a:rPr>
              <a:t>Machine: Motorized Direct Shear App - Qty: 1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051560" y="3657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STATUS: NEW INQUIRY  |  Yesterday, 04:30 PM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657600" y="3657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</a:rPr>
              <a:t>[ WhatsApp Followup 💬 ]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14400" y="4160520"/>
            <a:ext cx="530352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4251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👤 Afcons Infra (Navi Mumbai)  (+91 98330...)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51560" y="4526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BDF8"/>
                </a:solidFill>
              </a:rPr>
              <a:t>Machine: Bitumen Ductility App - Qty: 1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51560" y="4800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STATUS: CONVERTED DEAL  |  11 Sep 2026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57600" y="4800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</a:rPr>
              <a:t>[ WhatsApp Followup 💬 ]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914400" y="5394960"/>
            <a:ext cx="5303520" cy="548640"/>
          </a:xfrm>
          <a:prstGeom prst="roundRect">
            <a:avLst>
              <a:gd name="adj" fmla="val 13333"/>
            </a:avLst>
          </a:prstGeom>
          <a:solidFill>
            <a:srgbClr val="1E1B4B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55321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</a:rPr>
              <a:t>📊 Filter by Status: [ All ]  [ Pending ]  [ Contacted ]  [ Converted ]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675120" y="1280160"/>
            <a:ext cx="4846320" cy="4846320"/>
          </a:xfrm>
          <a:prstGeom prst="roundRect">
            <a:avLst>
              <a:gd name="adj" fmla="val 283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0" y="15087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HOW ADMIN HANDLES RFQ INQUIRIES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49440" y="19659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Lead Capture &amp; Notification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32320" y="222199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Whenever a visitor requests an RFQ on the storefront, it is logged instantly to MongoDB with client name, company, email, and phone.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949440" y="29718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1-Click WhatsApp Negotiation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32320" y="322783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Admin clicks [WhatsApp Followup] to open WhatsApp with a pre-filled quote greeting and technical PDF specification sheet attachment.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949440" y="39776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Pipeline Status Management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132320" y="423367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Admin transitions leads from 'New Inquiry' to 'Quotation Sent' to 'Converted Deal' to track sales funnel conversion rates.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949440" y="49834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CSV / Excel Lead Export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132320" y="523951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Admin exports monthly quotation leads to Excel for corporate financial reporting and sales team commission tracking.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PORTAL • /ADMIN/BLOGS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Section 9: Technical Testing Knowledge Base CMS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92640" y="502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11 of 18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5669280" cy="4846320"/>
          </a:xfrm>
          <a:prstGeom prst="roundRect">
            <a:avLst>
              <a:gd name="adj" fmla="val 2830"/>
            </a:avLst>
          </a:prstGeom>
          <a:solidFill>
            <a:srgbClr val="0F172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63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</a:rPr>
              <a:t>📰 CIVIL ENGINEERING KNOWLEDGE BASE CMS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0" y="141732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0" y="1463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+ Write New Article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914400" y="1920240"/>
            <a:ext cx="53035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0116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Step-by-Step IS 516 Compressive Strength Test Protocol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51560" y="2331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</a:rPr>
              <a:t>Tag: Concrete Testing  |  Readership: 1,420 Views  |  Status: 🟢 Published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51560" y="2606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[ Edit Content ✏️ ]   [ SEO Meta Tags 🌐 ]   [ Delete 🗑️ ]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14400" y="3063240"/>
            <a:ext cx="53035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1546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Direct Shear vs Triaxial Test: Key Differences for Soil Labs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51560" y="3474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</a:rPr>
              <a:t>Tag: Soil Mechanics  |  Readership: 980 Views  |  Status: 🟢 Published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51560" y="3749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[ Edit Content ✏️ ]   [ SEO Meta Tags 🌐 ]   [ Delete 🗑️ ]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14400" y="4206240"/>
            <a:ext cx="53035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42976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NABL Accreditation Guidelines for Highway QA Laboratories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51560" y="4617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</a:rPr>
              <a:t>Tag: NABL Guidelines  |  Readership: 2,150 Views  |  Status: 🟢 Published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51560" y="4892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[ Edit Content ✏️ ]   [ SEO Meta Tags 🌐 ]   [ Delete 🗑️ ]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675120" y="1280160"/>
            <a:ext cx="4846320" cy="4846320"/>
          </a:xfrm>
          <a:prstGeom prst="roundRect">
            <a:avLst>
              <a:gd name="adj" fmla="val 283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15087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HOW ADMIN PUBLISHES TECHNICAL CONTENT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49440" y="19659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Organic Content Authority Strategy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32320" y="222199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Admin publishes in-depth testing guides covering Indian Standards (IS Codes) to establish ARCL as an engineering authority.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949440" y="29718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Rich Text &amp; Technical Formulas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32320" y="322783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Supports formatted test calculation formulas, apparatus diagrams, and machine setup procedures.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949440" y="39776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Targeted Product Cross-Linking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132320" y="423367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Articles link directly to relevant ARCL testing machines, driving high-intent organic search visitors to quotation forms.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949440" y="49834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Automated Google Sitemap Inclusion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132320" y="523951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New articles are instantly appended to sitemap.xml for fast Google Search indexing.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PORTAL • /ADMIN/USERS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Section 10: Staff Roles &amp; User Permission Controls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92640" y="502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12 of 18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5669280" cy="4846320"/>
          </a:xfrm>
          <a:prstGeom prst="roundRect">
            <a:avLst>
              <a:gd name="adj" fmla="val 2830"/>
            </a:avLst>
          </a:prstGeom>
          <a:solidFill>
            <a:srgbClr val="0F172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63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</a:rPr>
              <a:t>👥 ADMIN USERS &amp; RBAC ACCESS CONTROL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141732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0" y="1463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+ Add New Staff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914400" y="1920240"/>
            <a:ext cx="5303520" cy="1005840"/>
          </a:xfrm>
          <a:prstGeom prst="rect">
            <a:avLst/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011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Harsh Mishra  [ 👑 SUPERADMIN 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51560" y="2331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</a:rPr>
              <a:t>Email: harshmishra4030@gmail.com  |  Status: Active (Presence Online)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51560" y="2606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[ Change Role ]   [ Reset Password ]   [ Revoke Access 🚫 ]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14400" y="3063240"/>
            <a:ext cx="53035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154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Technical Sales Manager  [ 🛡️ ADMIN 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51560" y="3474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</a:rPr>
              <a:t>Email: sales@arclinstruments.com  |  Status: Active (Presence Away)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51560" y="3749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[ Change Role ]   [ Reset Password ]   [ Revoke Access 🚫 ]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14400" y="4206240"/>
            <a:ext cx="53035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4297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Content Specialist  [ ✍️ EDITOR ]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51560" y="4617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</a:rPr>
              <a:t>Email: editor@arclinstruments.com  |  Status: Active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51560" y="4892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[ Change Role ]   [ Reset Password ]   [ Revoke Access 🚫 ]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675120" y="1280160"/>
            <a:ext cx="4846320" cy="4846320"/>
          </a:xfrm>
          <a:prstGeom prst="roundRect">
            <a:avLst>
              <a:gd name="adj" fmla="val 283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15087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HOW SUPERADMIN GOVERNS PLATFORM ACCESS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49440" y="19659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Granular Role Privileges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32320" y="222199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SuperAdmin holds full root permissions. Admins manage catalog items &amp; inquiries. Editors only write technical articles.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949440" y="29718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Session Invalidation on Revoke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32320" y="322783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If staff access is revoked, active JWT cookies are immediately blacklisted, terminating live sessions across all devices.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949440" y="39776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Password Reset Flow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132320" y="423367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SuperAdmin can dispatch secure temporary passwords or trigger automated password reset links.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949440" y="49834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Audit Logging of Privilege Changes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132320" y="523951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All user role escalations and access revocations are recorded in the security audit log with IST timestamps.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PORTAL • /ADMIN/ERROR-LOGS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Section 11: System Diagnostics &amp; Health Error Logs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92640" y="502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13 of 18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5669280" cy="4846320"/>
          </a:xfrm>
          <a:prstGeom prst="roundRect">
            <a:avLst>
              <a:gd name="adj" fmla="val 2830"/>
            </a:avLst>
          </a:prstGeom>
          <a:solidFill>
            <a:srgbClr val="0F172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630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</a:rPr>
              <a:t>🩺 SYSTEM HEALTH CONSOLE &amp; API TELEMETRY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914400" y="1828800"/>
            <a:ext cx="5303520" cy="594360"/>
          </a:xfrm>
          <a:prstGeom prst="rect">
            <a:avLst/>
          </a:prstGeom>
          <a:solidFill>
            <a:srgbClr val="062C1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9659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🟢 API GATEWAY: 100% HEALTHY  |  DB: CONNECTED  |  CDN: ACTIVE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914400" y="2560320"/>
            <a:ext cx="5303520" cy="3383280"/>
          </a:xfrm>
          <a:prstGeom prst="rect">
            <a:avLst/>
          </a:prstGeom>
          <a:solidFill>
            <a:srgbClr val="00000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697480"/>
            <a:ext cx="50292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[2026-09-13 11:45:02 IST] [INFO] [GET /api/v1/client/products] - 200 OK (22ms)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[2026-09-13 11:45:10 IST] [INFO] [POST /api/v1/auth/presence/heartbeat] - 200 OK (8ms)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[2026-09-13 11:46:00 IST] [CRON] Keep-Alive Ping Executed on /api/v1/health - Status: 200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[2026-09-13 11:47:30 IST] [INFO] [PUT /api/v1/admin/categories/reorder] - 200 OK (38ms)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[2026-09-13 11:48:15 IST] [INFO] Cloudinary WebP Asset Stream Completed - 0 Errors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[2026-09-13 11:50:00 IST] [CRON] Keep-Alive Pulse: Server Sleep Prevented (0 cold starts)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675120" y="1280160"/>
            <a:ext cx="4846320" cy="4846320"/>
          </a:xfrm>
          <a:prstGeom prst="roundRect">
            <a:avLst>
              <a:gd name="adj" fmla="val 283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0" y="15087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HOW ADMIN MONITORS SYSTEM STABILITY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49440" y="19659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Real-Time Error Capture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32320" y="222199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Unhandled backend exceptions and 404 broken routes are trapped by Express error middleware and logged with stack traces.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949440" y="29718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24/7 Keep-Alive Health Verification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32320" y="322783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Verifies that the automated 10-minute cron monitor is pinging /api/v1/health successfully to keep the Render free tier server alive.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949440" y="39776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Database Latency Telemetry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32320" y="423367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Monitors query round-trip times to MongoDB Atlas to ensure indexing maintains sub-30ms performance.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949440" y="49834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1-Click Log Export &amp; Purge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32320" y="523951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Admin can clear resolved logs or export error traces for software development maintenance.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EXPERIENCE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Storefront: Homepage &amp; 3-Level Semantic Hierarchy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92640" y="502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14 of 18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5669280" cy="4846320"/>
          </a:xfrm>
          <a:prstGeom prst="roundRect">
            <a:avLst>
              <a:gd name="adj" fmla="val 2830"/>
            </a:avLst>
          </a:prstGeom>
          <a:solidFill>
            <a:srgbClr val="0F172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630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</a:rPr>
              <a:t>🌐 STOREFRONT HOMEPAGE (Route: /)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914400" y="1828800"/>
            <a:ext cx="5303520" cy="1737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9659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Precision Civil &amp; Highway Testing Equipment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33172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Manufacturer of NABL Standard Testing Machines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Compliant with IS 516, IS 2720, IS 1208, and BS Standards.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97280" y="29718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[ Explore 124+ Machines ]     [ Download Spec Sheet (PDF) ]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3749040"/>
            <a:ext cx="1737360" cy="21945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9319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Concrete Testing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4480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CTM, Slump, Moulds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05840" y="5303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</a:rPr>
              <a:t>Explore →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697480" y="3749040"/>
            <a:ext cx="1737360" cy="21945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2788920" y="39319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Soil Mechanics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88920" y="4480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CBR, Direct Shear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788920" y="5303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</a:rPr>
              <a:t>Explore →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480560" y="3749040"/>
            <a:ext cx="1737360" cy="21945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39319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Bitumen Lab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0" y="4480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Ductility, Viscosity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0" y="5303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</a:rPr>
              <a:t>Explore →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675120" y="1280160"/>
            <a:ext cx="4846320" cy="4846320"/>
          </a:xfrm>
          <a:prstGeom prst="roundRect">
            <a:avLst>
              <a:gd name="adj" fmla="val 283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15087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HOW CIVIL ENGINEERS USE THE STOREFRONT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49440" y="19659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Sub-3-Click Navigation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32320" y="222199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Engineers locate required machines within 3 clicks via the Equipment Type -&gt; Category -&gt; Product taxonomy.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949440" y="29718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Server-Side Rendered Speed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132320" y="322783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Next.js 16 Edge rendering delivers full HTML in under 50ms, optimized for slow site connectivity.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949440" y="39776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Testing Standards Code Traceability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132320" y="423367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Direct badges indicate whether machines comply with IS 516, IS 2720, or ASTM test codes.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949440" y="49834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Instant Quotation Conversion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132320" y="523951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No complex cart checkout; site engineers trigger 1-click WhatsApp quotes or download dynamic PDF spec sheets.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EXPERIENCE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Storefront: Product Detail &amp; Dynamic PDF RFQ Engine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92640" y="502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15 of 18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5669280" cy="4846320"/>
          </a:xfrm>
          <a:prstGeom prst="roundRect">
            <a:avLst>
              <a:gd name="adj" fmla="val 2830"/>
            </a:avLst>
          </a:prstGeom>
          <a:solidFill>
            <a:srgbClr val="0F172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630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</a:rPr>
              <a:t>📄 PRODUCT DETAIL &amp; QUOTATION SPEC SHEET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17830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Digital Compression Testing Machine 2000 kN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10312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SKU: ARCL-CTM-2000  |  Standard: IS:516-1959  |  Capacity: 2000 kN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14400" y="2423160"/>
            <a:ext cx="5303520" cy="411480"/>
          </a:xfrm>
          <a:prstGeom prst="roundRect">
            <a:avLst>
              <a:gd name="adj" fmla="val 17778"/>
            </a:avLst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5146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🟢 Request Instant Quote via WhatsApp Business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2926080"/>
            <a:ext cx="5303520" cy="411480"/>
          </a:xfrm>
          <a:prstGeom prst="roundRect">
            <a:avLst>
              <a:gd name="adj" fmla="val 17778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175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7171"/>
                </a:solidFill>
              </a:rPr>
              <a:t>📄 Download Branded Technical Spec Sheet (PDF)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347472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DYNAMIC SPECIFICATIONS MATRIX: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14400" y="3749040"/>
            <a:ext cx="530352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7947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Capacity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017520" y="379476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2000 kN (200 Tonne)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14400" y="4133088"/>
            <a:ext cx="5303520" cy="347472"/>
          </a:xfrm>
          <a:prstGeom prst="rect">
            <a:avLst/>
          </a:prstGeom>
          <a:solidFill>
            <a:srgbClr val="182234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1788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Accuracy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017520" y="417880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Class 1 (±1% over range)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14400" y="4517136"/>
            <a:ext cx="530352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456285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Platen Size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017520" y="456285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220 mm diameter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14400" y="4901184"/>
            <a:ext cx="5303520" cy="347472"/>
          </a:xfrm>
          <a:prstGeom prst="rect">
            <a:avLst/>
          </a:prstGeom>
          <a:solidFill>
            <a:srgbClr val="182234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494690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Power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017520" y="4946904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220V AC Single Phase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675120" y="1280160"/>
            <a:ext cx="4846320" cy="4846320"/>
          </a:xfrm>
          <a:prstGeom prst="roundRect">
            <a:avLst>
              <a:gd name="adj" fmla="val 283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0" y="15087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CLIENT-SIDE DYNAMIC PDF GENERATION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49440" y="19659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Instant Browser-Side Compilation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32320" y="222199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jsPDF compiles the official ARCL header, machine parameters, BIS compliance seals, and contact details without server lag.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949440" y="29718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Government Audit Ready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132320" y="322783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Generated spec sheets can be attached directly to government PWD tender bidding submissions.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949440" y="39776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Pre-Formatted WhatsApp RFQ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132320" y="423367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One click opens WhatsApp with instrument name, model number, and link pre-populated for instant negotiation.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949440" y="49834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SEO JSON-LD Product Markup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132320" y="523951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Embeds Google Product and Offer schemas for organic search ranking and rich snippet displays.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Engine Dominance: Programmatic Geo-Landing Hubs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92640" y="502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16 of 18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3474720" cy="3657600"/>
          </a:xfrm>
          <a:prstGeom prst="roundRect">
            <a:avLst>
              <a:gd name="adj" fmla="val 3947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63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MUMBAI HUB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7830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/civil-lab-equipment-mumbai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21488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Civil contractors, RMC plants &amp; test labs in Mumbai, Dadar &amp; Andheri.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14400" y="297180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STRUCTURED SCHEMAS EMBEDDED: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• LocalBusiness Schema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• Product &amp; Offer Schema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• BreadcrumbList Schema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• FAQPage Rich Snippet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343400" y="1280160"/>
            <a:ext cx="3474720" cy="3657600"/>
          </a:xfrm>
          <a:prstGeom prst="roundRect">
            <a:avLst>
              <a:gd name="adj" fmla="val 3947"/>
            </a:avLst>
          </a:prstGeom>
          <a:solidFill>
            <a:srgbClr val="1E293B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463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</a:rPr>
              <a:t>NAVI MUMBAI HUB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26280" y="17830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/civil-lab-equipment-navi-mumbai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26280" y="21488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MIDC TTC industrial zone, Rabale, Mahape &amp; Panvel infrastructure.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26280" y="297180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STRUCTURED SCHEMAS EMBEDDED: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• LocalBusiness Schema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• Product &amp; Offer Schema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• BreadcrumbList Schema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• FAQPage Rich Snippet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955280" y="1280160"/>
            <a:ext cx="3474720" cy="3657600"/>
          </a:xfrm>
          <a:prstGeom prst="roundRect">
            <a:avLst>
              <a:gd name="adj" fmla="val 3947"/>
            </a:avLst>
          </a:prstGeom>
          <a:solidFill>
            <a:srgbClr val="1E293B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0" y="1463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</a:rPr>
              <a:t>THANE REGION HUB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38160" y="17830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/civil-lab-equipment-thane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138160" y="21488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Highway test labs, metro contractors, Kalyan &amp; Dombivli QA facilities.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138160" y="297180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STRUCTURED SCHEMAS EMBEDDED: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• LocalBusiness Schema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• Product &amp; Offer Schema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• BreadcrumbList Schema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• FAQPage Rich Snippet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31520" y="5120640"/>
            <a:ext cx="10698480" cy="1005840"/>
          </a:xfrm>
          <a:prstGeom prst="roundRect">
            <a:avLst>
              <a:gd name="adj" fmla="val 9091"/>
            </a:avLst>
          </a:prstGeom>
          <a:solidFill>
            <a:srgbClr val="062C1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25780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ORGANIC SEARCH GOAL: #1 RANK ON GOOGLE FOR CIVIL LAB EQUIPMENT SUPPLIERS IN MAHARASHTRA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4400" y="55778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Zero duplicate content penalties • 100% Core Web Vitals score • Dynamic ISR cache revalidation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INFRASTRUCTURE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Security, DevOps &amp; 24/7 Cloud Keep-Alive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92640" y="502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17 of 18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2560320" cy="384048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463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JWT &amp; DUAL AUTH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920240"/>
            <a:ext cx="2286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HTTP-Only Secure Cookies against XSS + Bearer token fallback for API calls. bcrypt password salting.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29000" y="1280160"/>
            <a:ext cx="2560320" cy="384048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1463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</a:rPr>
              <a:t>ROLE PRIVILEGES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66160" y="1920240"/>
            <a:ext cx="2286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Strict RBAC (SuperAdmin vs Admin vs Editor) enforcing middleware checks on all mutations.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26480" y="1280160"/>
            <a:ext cx="2560320" cy="384048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1463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DDoS &amp; HELMET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63640" y="1920240"/>
            <a:ext cx="2286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Express rate limiters block brute-force attempts. Helmet sanitizes HTTP headers against injection.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823960" y="1280160"/>
            <a:ext cx="2560320" cy="384048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0" y="1463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24/7 KEEP-ALIVE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961120" y="1920240"/>
            <a:ext cx="2286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Automated cron monitor pings /api/v1/health every 10 mins. Zero sleep mode on Render free tier.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31520" y="5349240"/>
            <a:ext cx="10698480" cy="777240"/>
          </a:xfrm>
          <a:prstGeom prst="roundRect">
            <a:avLst>
              <a:gd name="adj" fmla="val 11765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53212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TOPOLOGY: Frontend (Vercel Edge Network)  |  Backend (Render Web Service)  |  DB (MongoDB Atlas M10)  |  CDN (Cloudinary)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731520"/>
            <a:ext cx="5788152" cy="411480"/>
          </a:xfrm>
          <a:prstGeom prst="roundRect">
            <a:avLst>
              <a:gd name="adj" fmla="val 44444"/>
            </a:avLst>
          </a:prstGeom>
          <a:solidFill>
            <a:srgbClr val="062C1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0" y="731520"/>
            <a:ext cx="5788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MAJOR PROJECT DEFENSE 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SUMMARY &amp; LIVE DEMONSTRATION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71600" y="2148840"/>
            <a:ext cx="9445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ARCL Instruments bridges heavy civil engineering manufacturing with modern cloud architecture,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testing standards compliance, high organic search rankings, and physical hardware QR integration.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914400" y="2926080"/>
            <a:ext cx="3291840" cy="2011680"/>
          </a:xfrm>
          <a:prstGeom prst="roundRect">
            <a:avLst>
              <a:gd name="adj" fmla="val 6818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1089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LIVE STOREFRONT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34747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arclinstruments.com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40233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100+ Tested Machines Live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434840" y="2926080"/>
            <a:ext cx="3291840" cy="2011680"/>
          </a:xfrm>
          <a:prstGeom prst="roundRect">
            <a:avLst>
              <a:gd name="adj" fmla="val 6818"/>
            </a:avLst>
          </a:prstGeom>
          <a:solidFill>
            <a:srgbClr val="1E293B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31089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</a:rPr>
              <a:t>ADMIN CONSOLE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17720" y="34747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/admin/dashboard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17720" y="40233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Real-Time Presence &amp; DnD Matrix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955280" y="2926080"/>
            <a:ext cx="3291840" cy="2011680"/>
          </a:xfrm>
          <a:prstGeom prst="roundRect">
            <a:avLst>
              <a:gd name="adj" fmla="val 6818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31089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SYSTEM AVAILABILITY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138160" y="34747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100% Uptime (24/7)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38160" y="40233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Automated Cron Heartbeat &amp; Sub-50ms SSR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14400" y="53035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🚀 THANK YOU! READY FOR LIVE DEMONSTRATION &amp; VIVA QUESTIONS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ARCL Instruments Private Limited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ARCL Instruments - Complete System &amp; Admin Panel Visual Defense Deck</dc:title>
  <dc:subject>PptxGenJS Presentation</dc:subject>
  <dc:creator>Harsh Mishra - ARCL Engineering Team</dc:creator>
  <cp:lastModifiedBy>Harsh Mishra - ARCL Engineering Team</cp:lastModifiedBy>
  <cp:revision>1</cp:revision>
  <dcterms:created xsi:type="dcterms:W3CDTF">2026-09-13T06:34:34Z</dcterms:created>
  <dcterms:modified xsi:type="dcterms:W3CDTF">2026-09-13T06:34:34Z</dcterms:modified>
</cp:coreProperties>
</file>